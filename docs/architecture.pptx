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377440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 Legal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</a:defRPr>
            </a:pPr>
            <a:r>
              <a:t>Multi-Agent Legal Analysis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</a:defRPr>
            </a:pPr>
            <a:r>
              <a:t>Technical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Multi-agent AI system using MCP + A2A protocols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LangGraph ReAct pattern for legal analysis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Django + PostgreSQL backend with REST API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React + TypeScript frontend with Tailwind CSS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Node.js orchestrator for agent coordination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Docker Compose multi-service deployment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RAG with ChromaDB vector store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DeepEval evaluation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645920" cy="6400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Browser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94560" y="1645920"/>
            <a:ext cx="64008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Nginx (:3048)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1645920"/>
            <a:ext cx="64008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0" y="1097280"/>
            <a:ext cx="20116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Frontend (:3062)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920240"/>
            <a:ext cx="2011680" cy="64008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Backend (:8052)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743200"/>
            <a:ext cx="201168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Orchestrator (:3057)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80960" y="2926080"/>
            <a:ext cx="82296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5CF6"/>
                </a:solidFill>
              </a:defRPr>
            </a:pPr>
            <a:r>
              <a:t>service-to-service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743200"/>
            <a:ext cx="1463040" cy="64008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Data &amp; Services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1828800" cy="8229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PostgreSQL</a:t>
            </a:r>
            <a:br/>
            <a:r>
              <a:t>(:5488)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206240"/>
            <a:ext cx="182880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Redis</a:t>
            </a:r>
            <a:br/>
            <a:r>
              <a:t>(:6392)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206240"/>
            <a:ext cx="182880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ChromaDB</a:t>
            </a:r>
            <a:br/>
            <a:r>
              <a:t>(:8147)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59" y="4206240"/>
            <a:ext cx="1828800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OpenAI</a:t>
            </a:r>
            <a:br/>
            <a:r>
              <a:t>GPT-4o-mini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4206240"/>
            <a:ext cx="182880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Tavily</a:t>
            </a:r>
            <a:br/>
            <a:r>
              <a:t>Search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446520" y="2560320"/>
            <a:ext cx="274320" cy="5486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Backend connects to all data services below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206240"/>
            <a:ext cx="164592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Celery</a:t>
            </a:r>
            <a:br/>
            <a:r>
              <a:t>Worker + Beat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Agent Architecture - LangGraph ReAct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3716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Input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0240" y="1828800"/>
            <a:ext cx="5486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645920"/>
            <a:ext cx="1828800" cy="64008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 Node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80560" y="1828800"/>
            <a:ext cx="5486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219456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Should Continue?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06640" y="1828800"/>
            <a:ext cx="5486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164592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Loop back to Agent Node until done</a:t>
            </a:r>
          </a:p>
        </p:txBody>
      </p:sp>
      <p:sp>
        <p:nvSpPr>
          <p:cNvPr id="12" name="Curved Left Arrow 11"/>
          <p:cNvSpPr/>
          <p:nvPr/>
        </p:nvSpPr>
        <p:spPr>
          <a:xfrm>
            <a:off x="9784080" y="1554480"/>
            <a:ext cx="457200" cy="822960"/>
          </a:xfrm>
          <a:prstGeom prst="curvedLef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2743200"/>
            <a:ext cx="219456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END  -&gt;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6 Available Tools: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237744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RAG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657600"/>
            <a:ext cx="237744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Web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657600"/>
            <a:ext cx="237744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Loophole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0560"/>
            <a:ext cx="237744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Risk Assessment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4480560"/>
            <a:ext cx="237744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Contract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480560"/>
            <a:ext cx="237744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Compliance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Evaluation Metrics: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760720"/>
            <a:ext cx="22860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ToolCorrectness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5760720"/>
            <a:ext cx="22860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TaskCompletion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5760720"/>
            <a:ext cx="22860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AnswerRelevancy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5760720"/>
            <a:ext cx="22860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ContentCoverage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Multi-Agent System (MCP + A2A)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02920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C5F9E"/>
                </a:solidFill>
              </a:defRPr>
            </a:pPr>
            <a:r>
              <a:t>MCP Protocol</a:t>
            </a:r>
          </a:p>
          <a:p>
            <a:pPr>
              <a:spcBef>
                <a:spcPts val="400"/>
              </a:spcBef>
              <a:defRPr sz="1500">
                <a:solidFill>
                  <a:srgbClr val="1E293B"/>
                </a:solidFill>
              </a:defRPr>
            </a:pPr>
            <a:r>
              <a:t>  Tool exposure to AI agents</a:t>
            </a:r>
          </a:p>
          <a:p>
            <a:pPr>
              <a:spcBef>
                <a:spcPts val="400"/>
              </a:spcBef>
              <a:defRPr sz="1500">
                <a:solidFill>
                  <a:srgbClr val="1E293B"/>
                </a:solidFill>
              </a:defRPr>
            </a:pPr>
            <a:r>
              <a:t>  Resource sharing across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48640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A2A Protocol</a:t>
            </a:r>
          </a:p>
          <a:p>
            <a:pPr>
              <a:spcBef>
                <a:spcPts val="400"/>
              </a:spcBef>
              <a:defRPr sz="1500">
                <a:solidFill>
                  <a:srgbClr val="1E293B"/>
                </a:solidFill>
              </a:defRPr>
            </a:pPr>
            <a:r>
              <a:t>  Agent discovery &amp; registration</a:t>
            </a:r>
          </a:p>
          <a:p>
            <a:pPr>
              <a:spcBef>
                <a:spcPts val="400"/>
              </a:spcBef>
              <a:defRPr sz="1500">
                <a:solidFill>
                  <a:srgbClr val="1E293B"/>
                </a:solidFill>
              </a:defRPr>
            </a:pPr>
            <a:r>
              <a:t>  Task delegation between agents</a:t>
            </a:r>
          </a:p>
          <a:p>
            <a:pPr>
              <a:spcBef>
                <a:spcPts val="400"/>
              </a:spcBef>
              <a:defRPr sz="1500">
                <a:solidFill>
                  <a:srgbClr val="1E293B"/>
                </a:solidFill>
              </a:defRPr>
            </a:pPr>
            <a:r>
              <a:t>  Result aggregation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291840"/>
            <a:ext cx="3657600" cy="7315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Supervisor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Coordinates multi-agent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6 Specialized Agents: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737360" cy="64008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Legal Analyst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4572000"/>
            <a:ext cx="173736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Research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572000"/>
            <a:ext cx="173736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Loophole Detector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72000"/>
            <a:ext cx="173736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Risk Assessor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572000"/>
            <a:ext cx="173736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Contract Reviewer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4572000"/>
            <a:ext cx="173736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Supervisor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143000" y="4023360"/>
            <a:ext cx="274320" cy="4572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3063240" y="4023360"/>
            <a:ext cx="274320" cy="4572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4983480" y="4023360"/>
            <a:ext cx="274320" cy="4572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6903720" y="4023360"/>
            <a:ext cx="274320" cy="4572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8823960" y="4023360"/>
            <a:ext cx="274320" cy="4572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64008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5176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Users, Cases, Clients,</a:t>
            </a:r>
            <a:br/>
            <a:r>
              <a:t>Documents, Analysis Results,</a:t>
            </a:r>
            <a:br/>
            <a:r>
              <a:t>Billing, Audit 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45920"/>
            <a:ext cx="265176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ChromaDB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286000"/>
            <a:ext cx="265176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Vector embeddings for</a:t>
            </a:r>
            <a:br/>
            <a:r>
              <a:t>legal precedents</a:t>
            </a:r>
            <a:br/>
            <a:r>
              <a:t>(RAG retrieval)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65176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Redis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265176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Celery task broker,</a:t>
            </a:r>
            <a:br/>
            <a:r>
              <a:t>Pub/Sub messaging,</a:t>
            </a:r>
            <a:br/>
            <a:r>
              <a:t>Response caching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645920"/>
            <a:ext cx="265176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2286000"/>
            <a:ext cx="265176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JWT tokens for users,</a:t>
            </a:r>
            <a:br/>
            <a:r>
              <a:t>Service API keys for</a:t>
            </a:r>
            <a:br/>
            <a:r>
              <a:t>service-to-service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PostgreSQL Models: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280160" cy="50292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4846320"/>
            <a:ext cx="1280160" cy="50292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4846320"/>
            <a:ext cx="1280160" cy="50292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4846320"/>
            <a:ext cx="1280160" cy="50292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Document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846320"/>
            <a:ext cx="1280160" cy="50292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AnalysisResult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846320"/>
            <a:ext cx="1280160" cy="50292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BillingEntry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4846320"/>
            <a:ext cx="1280160" cy="50292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AuditLog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4846320"/>
            <a:ext cx="1280160" cy="50292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LegalPrecedent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Frontend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09728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React 18  +  TypeScript 4.9  +  Tailwind CSS  +  Axios  +  React 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10 Application Pages: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1920240" cy="5943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560320"/>
            <a:ext cx="1920240" cy="5943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560320"/>
            <a:ext cx="1920240" cy="5943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79" y="2560320"/>
            <a:ext cx="1920240" cy="5943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560320"/>
            <a:ext cx="1920240" cy="5943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37560"/>
            <a:ext cx="1920240" cy="5943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337560"/>
            <a:ext cx="1920240" cy="5943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3337560"/>
            <a:ext cx="1920240" cy="5943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79" y="3337560"/>
            <a:ext cx="1920240" cy="5943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Settings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337560"/>
            <a:ext cx="1920240" cy="5943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  JWT authentication with auto-refresh interceptors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  Real-time updates via WebSocket connections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  Responsive design with Tailwind CSS utility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  Modular component architecture with shared UI library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Deployment -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9 Services with Non-Default Ports: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7772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Nginx  :3048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474720" cy="77724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  :3062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011680"/>
            <a:ext cx="3474720" cy="777240"/>
          </a:xfrm>
          <a:prstGeom prst="roundRect">
            <a:avLst/>
          </a:prstGeom>
          <a:solidFill>
            <a:srgbClr val="2C5F9E"/>
          </a:solidFill>
          <a:ln w="1270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  :8052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3474720" cy="77724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Orchestrator  :3057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017520"/>
            <a:ext cx="3474720" cy="77724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PostgreSQL  :5488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017520"/>
            <a:ext cx="3474720" cy="77724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Redis  :6392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3474720" cy="7772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ChromaDB  :8147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023360"/>
            <a:ext cx="3474720" cy="77724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Celery Worker  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023360"/>
            <a:ext cx="3474720" cy="77724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Celery Beat  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  Health checks &amp; dependency ordering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  Named volumes for data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  Environment-based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  Single docker-compose.yml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Features &amp; Business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029200" cy="64008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0292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Platform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AI-Powered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99232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Precedent Search (RAG)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12464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Risk 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25696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Contract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38928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Compliance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852160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Loophole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286000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Case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999232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Client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712464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Document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425696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Billing &amp; Time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138928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Chat 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5852160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Audit Logging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286000" cy="73152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63040"/>
            <a:ext cx="85039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Python 3.11, Django 5.x, DRF, LangGraph, LangChain, Celery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22860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468880"/>
            <a:ext cx="85039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React 18, TypeScript, Tailwind CSS, Axios, React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228600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474720"/>
            <a:ext cx="85039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Node.js 20, Express, TypeScript, MCP SDK, A2A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22860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/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480560"/>
            <a:ext cx="85039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OpenAI GPT-4o-mini, ChromaDB, Tavily Search, DeepEval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486400"/>
            <a:ext cx="228600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5486400"/>
            <a:ext cx="85039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Docker, Nginx, PostgreSQL 16 (pgvector), Redis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